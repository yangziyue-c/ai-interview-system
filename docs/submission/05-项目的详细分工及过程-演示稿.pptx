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82735" y="0"/>
            <a:ext cx="3108960" cy="6858000"/>
          </a:xfrm>
          <a:prstGeom prst="rect">
            <a:avLst/>
          </a:prstGeom>
          <a:solidFill>
            <a:srgbClr val="2B2F36"/>
          </a:solidFill>
          <a:ln/>
        </p:spPr>
      </p:sp>
      <p:sp>
        <p:nvSpPr>
          <p:cNvPr id="3" name="Shape 1"/>
          <p:cNvSpPr/>
          <p:nvPr/>
        </p:nvSpPr>
        <p:spPr>
          <a:xfrm>
            <a:off x="9082735" y="0"/>
            <a:ext cx="45720" cy="685800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Shape 2"/>
          <p:cNvSpPr/>
          <p:nvPr/>
        </p:nvSpPr>
        <p:spPr>
          <a:xfrm>
            <a:off x="9814255" y="1005840"/>
            <a:ext cx="1371600" cy="91440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5" name="Shape 3"/>
          <p:cNvSpPr/>
          <p:nvPr/>
        </p:nvSpPr>
        <p:spPr>
          <a:xfrm>
            <a:off x="9814255" y="1234440"/>
            <a:ext cx="86868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6" name="Shape 4"/>
          <p:cNvSpPr/>
          <p:nvPr/>
        </p:nvSpPr>
        <p:spPr>
          <a:xfrm>
            <a:off x="9814255" y="1463040"/>
            <a:ext cx="502920" cy="91440"/>
          </a:xfrm>
          <a:prstGeom prst="rect">
            <a:avLst/>
          </a:prstGeom>
          <a:solidFill>
            <a:srgbClr val="3A4048"/>
          </a:solidFill>
          <a:ln/>
        </p:spPr>
      </p:sp>
      <p:sp>
        <p:nvSpPr>
          <p:cNvPr id="7" name="Shape 5"/>
          <p:cNvSpPr/>
          <p:nvPr/>
        </p:nvSpPr>
        <p:spPr>
          <a:xfrm>
            <a:off x="10180015" y="4206240"/>
            <a:ext cx="1051560" cy="1051560"/>
          </a:xfrm>
          <a:prstGeom prst="ellipse">
            <a:avLst/>
          </a:prstGeom>
          <a:solidFill>
            <a:srgbClr val="0066FF"/>
          </a:solidFill>
          <a:ln/>
        </p:spPr>
      </p:sp>
      <p:sp>
        <p:nvSpPr>
          <p:cNvPr id="8" name="Shape 6"/>
          <p:cNvSpPr/>
          <p:nvPr/>
        </p:nvSpPr>
        <p:spPr>
          <a:xfrm>
            <a:off x="10591495" y="4709160"/>
            <a:ext cx="640080" cy="640080"/>
          </a:xfrm>
          <a:prstGeom prst="ellipse">
            <a:avLst/>
          </a:prstGeom>
          <a:solidFill>
            <a:srgbClr val="00FFFF"/>
          </a:solidFill>
          <a:ln/>
        </p:spPr>
      </p:sp>
      <p:sp>
        <p:nvSpPr>
          <p:cNvPr id="9" name="Shape 7"/>
          <p:cNvSpPr/>
          <p:nvPr/>
        </p:nvSpPr>
        <p:spPr>
          <a:xfrm>
            <a:off x="10893247" y="5029200"/>
            <a:ext cx="219456" cy="219456"/>
          </a:xfrm>
          <a:prstGeom prst="ellipse">
            <a:avLst/>
          </a:prstGeom>
          <a:solidFill>
            <a:srgbClr val="1E1E1E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417320"/>
            <a:ext cx="7680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spc="200" kern="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</a:t>
            </a:r>
            <a:endParaRPr lang="en-US" sz="5800" dirty="0"/>
          </a:p>
        </p:txBody>
      </p:sp>
      <p:sp>
        <p:nvSpPr>
          <p:cNvPr id="11" name="Text 9"/>
          <p:cNvSpPr/>
          <p:nvPr/>
        </p:nvSpPr>
        <p:spPr>
          <a:xfrm>
            <a:off x="822960" y="274320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55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基于多模态交互与动态知识图谱的计算机岗位</a:t>
            </a:r>
            <a:endParaRPr lang="en-US" sz="155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55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模拟面试与能力提升平台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822960" y="3977640"/>
            <a:ext cx="2834640" cy="41148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224528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项目的详细分工及过程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822960" y="562356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Alpha 小队｜2026 年 10 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2468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13232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CONTENTS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13232" y="3794760"/>
            <a:ext cx="1280160" cy="41148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7" name="Text 5"/>
          <p:cNvSpPr/>
          <p:nvPr/>
        </p:nvSpPr>
        <p:spPr>
          <a:xfrm>
            <a:off x="4663440" y="1481328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4E9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5806440" y="162763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806440" y="2286000"/>
            <a:ext cx="548640" cy="457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0" name="Shape 8"/>
          <p:cNvSpPr/>
          <p:nvPr/>
        </p:nvSpPr>
        <p:spPr>
          <a:xfrm>
            <a:off x="5806440" y="2852928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11" name="Text 9"/>
          <p:cNvSpPr/>
          <p:nvPr/>
        </p:nvSpPr>
        <p:spPr>
          <a:xfrm>
            <a:off x="6053328" y="269748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团队构成与分工原则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806440" y="3511296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6053328" y="3355848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五个岗位的职责与产出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806440" y="4169664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053328" y="401421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协作机制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03920" y="1481328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4E9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9646920" y="162763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646920" y="2286000"/>
            <a:ext cx="548640" cy="457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9" name="Shape 17"/>
          <p:cNvSpPr/>
          <p:nvPr/>
        </p:nvSpPr>
        <p:spPr>
          <a:xfrm>
            <a:off x="9646920" y="2852928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9893808" y="269748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实施路线与四个阶段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9646920" y="3511296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893808" y="3355848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风险与应对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9646920" y="4169664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9893808" y="401421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阶段任务与人员分工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项目一览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OVERVIEW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85800" y="11155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面向计算机岗位的 AI 模拟面试与能力提升平台：多轮动态追问、五维能力评估、成长追踪闭环。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85800" y="182880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05256" y="1956816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5012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05256" y="2523744"/>
            <a:ext cx="2990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道结构化题目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05256" y="2834640"/>
            <a:ext cx="29900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 5 个技术岗位，每题 18 个字段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43400" y="182880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62856" y="1956816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74011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562856" y="2523744"/>
            <a:ext cx="2990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条向量检索条目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62856" y="2834640"/>
            <a:ext cx="29900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语义召回 + 交叉编码器精排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01000" y="182880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0456" y="1956816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180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220456" y="2523744"/>
            <a:ext cx="2990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项自动化测试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20456" y="2834640"/>
            <a:ext cx="29900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全量运行约 10 秒，测试库隔离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85800" y="370332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5256" y="3831336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2000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905256" y="4398264"/>
            <a:ext cx="2990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场流程仿真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05256" y="4709160"/>
            <a:ext cx="29900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岗位 × 400 场，兜底 0 次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343400" y="370332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62856" y="3831336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/ 10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4562856" y="4398264"/>
            <a:ext cx="2990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轮制双链路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62856" y="4709160"/>
            <a:ext cx="29900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原链路 7 轮制与引擎 10 题制并存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001000" y="370332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0456" y="3831336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8220456" y="4398264"/>
            <a:ext cx="2990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维能力评估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220456" y="4709160"/>
            <a:ext cx="29900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 · 逻辑 · 表达 · 应变 · 匹配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团队构成与分工原则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 · 1.1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85800" y="104241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人团队，采用「技术分工 + 文档共建」的协作模式，按技术链路一人负责一段。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1536192"/>
            <a:ext cx="1828800" cy="658368"/>
          </a:xfrm>
          <a:prstGeom prst="roundRect">
            <a:avLst>
              <a:gd name="adj" fmla="val 8333"/>
            </a:avLst>
          </a:prstGeom>
          <a:solidFill>
            <a:srgbClr val="1E1E1E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609344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前端界面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5173 / 同端口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697480" y="168249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00400" y="1536192"/>
            <a:ext cx="2286000" cy="658368"/>
          </a:xfrm>
          <a:prstGeom prst="roundRect">
            <a:avLst>
              <a:gd name="adj" fmla="val 8333"/>
            </a:avLst>
          </a:prstGeom>
          <a:solidFill>
            <a:srgbClr val="0066FF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0" y="1609344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主后端 8001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统一接口与转发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532120" y="168249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35040" y="1536192"/>
            <a:ext cx="2651760" cy="658368"/>
          </a:xfrm>
          <a:prstGeom prst="roundRect">
            <a:avLst>
              <a:gd name="adj" fmla="val 8333"/>
            </a:avLst>
          </a:prstGeom>
          <a:solidFill>
            <a:srgbClr val="F5F7FB"/>
          </a:solidFill>
          <a:ln w="15875">
            <a:solidFill>
              <a:srgbClr val="006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0" y="1691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对话与评估层 8005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52560" y="1536192"/>
            <a:ext cx="2651760" cy="658368"/>
          </a:xfrm>
          <a:prstGeom prst="roundRect">
            <a:avLst>
              <a:gd name="adj" fmla="val 8333"/>
            </a:avLst>
          </a:prstGeom>
          <a:solidFill>
            <a:srgbClr val="F5F7FB"/>
          </a:solidFill>
          <a:ln w="15875">
            <a:solidFill>
              <a:srgbClr val="0066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52560" y="1691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知识库检索服务 8003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514600"/>
          <a:ext cx="108356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606040"/>
                <a:gridCol w="6217920"/>
              </a:tblGrid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岗位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负责模块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核心职责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后端开发 A · 小丁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主后端与系统集成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主后端与面试流程引擎、接口体系、部署与一键启动、接口文档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对话层与面试官人格 · 小陈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对话层服务与面试官算法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面试官人格与追问策略、对话层服务、成长档案与考后复盘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评估与报告生成 · 小黄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评估能力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五维评分与报告生成、按题校准、项目文档统筹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前端全栈开发 · 小冯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正式前端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 个页面与 1 个设置组件的实现、构建产物交付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知识库构建与测试 · 小李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题库与检索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5012 题题库建设、向量检索服务、全流程功能测试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后端开发 A：主后端与面试状态机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 · 1.2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22529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1078992"/>
            <a:ext cx="5212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数据基座　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张业务表；词表收敛到唯一定义处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5681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1810512"/>
            <a:ext cx="5212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流程编排　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表驱动状态机；1 道开场题 + 6 轮动态追问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268833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2542032"/>
            <a:ext cx="5212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断点可恢复　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出题即落库、作答再回填，任意环节可恢复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55080" y="122529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5" name="Text 13"/>
          <p:cNvSpPr/>
          <p:nvPr/>
        </p:nvSpPr>
        <p:spPr>
          <a:xfrm>
            <a:off x="6629400" y="1078992"/>
            <a:ext cx="4983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集成与高可用　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五级数据源链；超时分档 60 / 30 / 15 秒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55080" y="195681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7" name="Text 15"/>
          <p:cNvSpPr/>
          <p:nvPr/>
        </p:nvSpPr>
        <p:spPr>
          <a:xfrm>
            <a:off x="6629400" y="1810512"/>
            <a:ext cx="4983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双链路隔离　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线路创建时定死、整场只读；失效自动收尾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355080" y="268833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2542032"/>
            <a:ext cx="4983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工程化交付　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180 项测试；一键启动四个进程；双远程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121408" y="3401568"/>
            <a:ext cx="7955280" cy="2926080"/>
          </a:xfrm>
          <a:prstGeom prst="roundRect">
            <a:avLst>
              <a:gd name="adj" fmla="val 1875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21" name="Image 0" descr="D:\外包竞赛\project\ai-interview-system\docs\submission\figures\fig-6-2-1-面试流程引擎.png">    </p:cNvPr>
          <p:cNvPicPr>
            <a:picLocks noChangeAspect="1"/>
          </p:cNvPicPr>
          <p:nvPr/>
        </p:nvPicPr>
        <p:blipFill>
          <a:blip r:embed="rId1"/>
          <a:srcRect l="-90667" r="-90667" t="0" b="0"/>
          <a:stretch/>
        </p:blipFill>
        <p:spPr>
          <a:xfrm>
            <a:off x="2240280" y="3493008"/>
            <a:ext cx="7717536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对话层与面试官人格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 · 1.2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1859890" cy="868680"/>
          </a:xfrm>
          <a:prstGeom prst="roundRect">
            <a:avLst>
              <a:gd name="adj" fmla="val 6316"/>
            </a:avLst>
          </a:prstGeom>
          <a:solidFill>
            <a:srgbClr val="0066FF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23444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锚点定位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160020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8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历史中最近一道题库原题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591410" y="1399032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975458" y="1143000"/>
            <a:ext cx="1859890" cy="868680"/>
          </a:xfrm>
          <a:prstGeom prst="roundRect">
            <a:avLst>
              <a:gd name="adj" fmla="val 6316"/>
            </a:avLst>
          </a:prstGeom>
          <a:solidFill>
            <a:srgbClr val="0066FF"/>
          </a:solidFill>
          <a:ln/>
        </p:spPr>
      </p:sp>
      <p:sp>
        <p:nvSpPr>
          <p:cNvPr id="13" name="Text 11"/>
          <p:cNvSpPr/>
          <p:nvPr/>
        </p:nvSpPr>
        <p:spPr>
          <a:xfrm>
            <a:off x="3066898" y="123444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基础追问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066898" y="160020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8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未追问过取此层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835347" y="1399032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219395" y="1143000"/>
            <a:ext cx="1859890" cy="868680"/>
          </a:xfrm>
          <a:prstGeom prst="roundRect">
            <a:avLst>
              <a:gd name="adj" fmla="val 6316"/>
            </a:avLst>
          </a:prstGeom>
          <a:solidFill>
            <a:srgbClr val="0066FF"/>
          </a:solidFill>
          <a:ln/>
        </p:spPr>
      </p:sp>
      <p:sp>
        <p:nvSpPr>
          <p:cNvPr id="17" name="Text 15"/>
          <p:cNvSpPr/>
          <p:nvPr/>
        </p:nvSpPr>
        <p:spPr>
          <a:xfrm>
            <a:off x="5310835" y="123444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 递进追问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310835" y="160020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8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已追问一次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79285" y="1399032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463333" y="1143000"/>
            <a:ext cx="1859890" cy="868680"/>
          </a:xfrm>
          <a:prstGeom prst="roundRect">
            <a:avLst>
              <a:gd name="adj" fmla="val 6316"/>
            </a:avLst>
          </a:prstGeom>
          <a:solidFill>
            <a:srgbClr val="0066FF"/>
          </a:solidFill>
          <a:ln/>
        </p:spPr>
      </p:sp>
      <p:sp>
        <p:nvSpPr>
          <p:cNvPr id="21" name="Text 19"/>
          <p:cNvSpPr/>
          <p:nvPr/>
        </p:nvSpPr>
        <p:spPr>
          <a:xfrm>
            <a:off x="7554773" y="123444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 拓展追问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554773" y="160020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8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已追问两次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323222" y="1399032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707270" y="1143000"/>
            <a:ext cx="1859890" cy="868680"/>
          </a:xfrm>
          <a:prstGeom prst="roundRect">
            <a:avLst>
              <a:gd name="adj" fmla="val 6316"/>
            </a:avLst>
          </a:prstGeom>
          <a:solidFill>
            <a:srgbClr val="0044B8"/>
          </a:solidFill>
          <a:ln/>
        </p:spPr>
      </p:sp>
      <p:sp>
        <p:nvSpPr>
          <p:cNvPr id="25" name="Text 23"/>
          <p:cNvSpPr/>
          <p:nvPr/>
        </p:nvSpPr>
        <p:spPr>
          <a:xfrm>
            <a:off x="9798710" y="123444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换新题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9798710" y="160020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8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三次以上或到收尾轮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31520" y="2487168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8" name="Text 26"/>
          <p:cNvSpPr/>
          <p:nvPr/>
        </p:nvSpPr>
        <p:spPr>
          <a:xfrm>
            <a:off x="1005840" y="2340864"/>
            <a:ext cx="10561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露怯的降级引导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答案不足 20 字或出现 12 个露怯短语时，追问改为降级话术，把考生拉回可回答的层面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31520" y="3200400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0" name="Text 28"/>
          <p:cNvSpPr/>
          <p:nvPr/>
        </p:nvSpPr>
        <p:spPr>
          <a:xfrm>
            <a:off x="1005840" y="3054096"/>
            <a:ext cx="10561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收尾控制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6、7 轮强制换新题并偏向行为素质题；连续露怯的考生跳过深度压轴题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31520" y="3913632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3767328"/>
            <a:ext cx="10561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V5 换代三处重写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素材字段直读（119 行正则层作废）；L1 触发改语义分流，追问触达率 66% → 100%；收尾题池改按题型选取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31520" y="4626864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4" name="Text 32"/>
          <p:cNvSpPr/>
          <p:nvPr/>
        </p:nvSpPr>
        <p:spPr>
          <a:xfrm>
            <a:off x="1005840" y="4480560"/>
            <a:ext cx="10561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对话层服务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8005 独立运行：面试官人格提示词、追问生成、语音转写、成长档案与考后复盘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31520" y="534009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6" name="Text 34"/>
          <p:cNvSpPr/>
          <p:nvPr/>
        </p:nvSpPr>
        <p:spPr>
          <a:xfrm>
            <a:off x="1005840" y="5193792"/>
            <a:ext cx="10561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效果验证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骨架经两轮审查与 2700 场模拟；迭代后按 5 岗位 × 400 场回归，兜底 0 次、收尾题 100%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31520" y="5870448"/>
            <a:ext cx="10835640" cy="548640"/>
          </a:xfrm>
          <a:prstGeom prst="rect">
            <a:avLst/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32688" y="591616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主要产出：interviewer_new 算法模块与说明 · 对话层服务及其集成适配 · 算法测试用例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评估与报告生成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 · 1.2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115568"/>
            <a:ext cx="3520440" cy="1188720"/>
          </a:xfrm>
          <a:prstGeom prst="roundRect">
            <a:avLst>
              <a:gd name="adj" fmla="val 3846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115568"/>
            <a:ext cx="3520440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28016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客观线 · Qwen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1627632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把回答抽成技术主张、标准答案拆成原子断言，逐条判断支持、矛盾或证据不足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407408" y="1115568"/>
            <a:ext cx="3520440" cy="1188720"/>
          </a:xfrm>
          <a:prstGeom prst="roundRect">
            <a:avLst>
              <a:gd name="adj" fmla="val 3846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07408" y="1115568"/>
            <a:ext cx="3520440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4" name="Text 12"/>
          <p:cNvSpPr/>
          <p:nvPr/>
        </p:nvSpPr>
        <p:spPr>
          <a:xfrm>
            <a:off x="4590288" y="128016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主观线 · DeepSeek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0288" y="1627632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五维评价与判档：技术 / 逻辑 / 表达 / 应变 / 匹配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083296" y="1115568"/>
            <a:ext cx="3520440" cy="1188720"/>
          </a:xfrm>
          <a:prstGeom prst="roundRect">
            <a:avLst>
              <a:gd name="adj" fmla="val 3846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83296" y="1115568"/>
            <a:ext cx="3520440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8" name="Text 16"/>
          <p:cNvSpPr/>
          <p:nvPr/>
        </p:nvSpPr>
        <p:spPr>
          <a:xfrm>
            <a:off x="8266176" y="128016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合成方式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66176" y="1627632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两条线按置信度感知权重合成最终分数，不采用固定比例加权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31520" y="2450592"/>
            <a:ext cx="10835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表达指标口径　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语速 = 去标点字数 ÷ 净说话分钟　·　长停顿 = 人声间隔 &gt; 1500ms　·　填充词按字面量匹配　·　音量稳定性 = 3 秒窗 RMS 标准差 ÷ 均值；停顿检测基于人声活动检测，而非转写段间隔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55648" y="3127248"/>
            <a:ext cx="8686800" cy="3108960"/>
          </a:xfrm>
          <a:prstGeom prst="roundRect">
            <a:avLst>
              <a:gd name="adj" fmla="val 1765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22" name="Image 0" descr="D:\外包竞赛\project\ai-interview-system\docs\submission\figures\fig-8-2-1-岗位权重对比.png">    </p:cNvPr>
          <p:cNvPicPr>
            <a:picLocks noChangeAspect="1"/>
          </p:cNvPicPr>
          <p:nvPr/>
        </p:nvPicPr>
        <p:blipFill>
          <a:blip r:embed="rId1"/>
          <a:srcRect l="-94375" r="-94375" t="0" b="0"/>
          <a:stretch/>
        </p:blipFill>
        <p:spPr>
          <a:xfrm>
            <a:off x="1874520" y="3218688"/>
            <a:ext cx="8449056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前端全栈开发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 · 1.2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13232" y="10241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Vue 3 + Vite，14 个页面 + 1 个设置组件，桌面与移动端响应式；以下为实际交付界面的部分截图。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58368" y="1536192"/>
            <a:ext cx="3520440" cy="1810512"/>
          </a:xfrm>
          <a:prstGeom prst="roundRect">
            <a:avLst>
              <a:gd name="adj" fmla="val 202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10" name="Image 0" descr="D:\外包竞赛\project\ai-interview-system\docs\submission\figures\ui\ui-岗位大厅.png">    </p:cNvPr>
          <p:cNvPicPr>
            <a:picLocks noChangeAspect="1"/>
          </p:cNvPicPr>
          <p:nvPr/>
        </p:nvPicPr>
        <p:blipFill>
          <a:blip r:embed="rId1"/>
          <a:srcRect l="-50269" r="-50269" t="0" b="0"/>
          <a:stretch/>
        </p:blipFill>
        <p:spPr>
          <a:xfrm>
            <a:off x="713232" y="1591056"/>
            <a:ext cx="3410712" cy="170078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58368" y="338328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岗位大厅：五个岗位卡片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334256" y="1536192"/>
            <a:ext cx="3520440" cy="1810512"/>
          </a:xfrm>
          <a:prstGeom prst="roundRect">
            <a:avLst>
              <a:gd name="adj" fmla="val 202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13" name="Image 1" descr="D:\外包竞赛\project\ai-interview-system\docs\submission\figures\ui\ui-面试对话室.png">    </p:cNvPr>
          <p:cNvPicPr>
            <a:picLocks noChangeAspect="1"/>
          </p:cNvPicPr>
          <p:nvPr/>
        </p:nvPicPr>
        <p:blipFill>
          <a:blip r:embed="rId2"/>
          <a:srcRect l="-50269" r="-50269" t="0" b="0"/>
          <a:stretch/>
        </p:blipFill>
        <p:spPr>
          <a:xfrm>
            <a:off x="4389120" y="1591056"/>
            <a:ext cx="3410712" cy="17007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334256" y="338328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面试对话室：文本 + 语音作答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8010144" y="1536192"/>
            <a:ext cx="3520440" cy="1810512"/>
          </a:xfrm>
          <a:prstGeom prst="roundRect">
            <a:avLst>
              <a:gd name="adj" fmla="val 202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16" name="Image 2" descr="D:\外包竞赛\project\ai-interview-system\docs\submission\figures\ui\ui-报告页.png">    </p:cNvPr>
          <p:cNvPicPr>
            <a:picLocks noChangeAspect="1"/>
          </p:cNvPicPr>
          <p:nvPr/>
        </p:nvPicPr>
        <p:blipFill>
          <a:blip r:embed="rId3"/>
          <a:srcRect l="-50269" r="-50269" t="0" b="0"/>
          <a:stretch/>
        </p:blipFill>
        <p:spPr>
          <a:xfrm>
            <a:off x="8065008" y="1591056"/>
            <a:ext cx="3410712" cy="17007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010144" y="338328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报告页：雷达图与成长曲线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2496312" y="3858768"/>
            <a:ext cx="3520440" cy="1810512"/>
          </a:xfrm>
          <a:prstGeom prst="roundRect">
            <a:avLst>
              <a:gd name="adj" fmla="val 202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19" name="Image 3" descr="D:\外包竞赛\project\ai-interview-system\docs\submission\figures\ui\ui-题库中心.png">    </p:cNvPr>
          <p:cNvPicPr>
            <a:picLocks noChangeAspect="1"/>
          </p:cNvPicPr>
          <p:nvPr/>
        </p:nvPicPr>
        <p:blipFill>
          <a:blip r:embed="rId4"/>
          <a:srcRect l="-50269" r="-50269" t="0" b="0"/>
          <a:stretch/>
        </p:blipFill>
        <p:spPr>
          <a:xfrm>
            <a:off x="2551176" y="3913632"/>
            <a:ext cx="3410712" cy="170078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2496312" y="570585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题库中心：5012 题可检索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172200" y="3858768"/>
            <a:ext cx="3520440" cy="1810512"/>
          </a:xfrm>
          <a:prstGeom prst="roundRect">
            <a:avLst>
              <a:gd name="adj" fmla="val 202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22" name="Image 4" descr="D:\外包竞赛\project\ai-interview-system\docs\submission\figures\ui\ui-个人中心.png">    </p:cNvPr>
          <p:cNvPicPr>
            <a:picLocks noChangeAspect="1"/>
          </p:cNvPicPr>
          <p:nvPr/>
        </p:nvPicPr>
        <p:blipFill>
          <a:blip r:embed="rId5"/>
          <a:srcRect l="-50269" r="-50269" t="0" b="0"/>
          <a:stretch/>
        </p:blipFill>
        <p:spPr>
          <a:xfrm>
            <a:off x="6227064" y="3913632"/>
            <a:ext cx="3410712" cy="17007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172200" y="570585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个人中心：资料与历史</a:t>
            </a:r>
            <a:endParaRPr lang="en-US" sz="1000" dirty="0"/>
          </a:p>
        </p:txBody>
      </p:sp>
      <p:sp>
        <p:nvSpPr>
          <p:cNvPr id="24" name="Text 17"/>
          <p:cNvSpPr/>
          <p:nvPr/>
        </p:nvSpPr>
        <p:spPr>
          <a:xfrm>
            <a:off x="713232" y="6108192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语音两级设计：本地 Vosk 实时预览 + 服务端转写为准；转写失败保留本地文本并提示，可手动修改后继续。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知识库构建与测试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 · 1.2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3232" y="1097280"/>
            <a:ext cx="3474720" cy="1463040"/>
          </a:xfrm>
          <a:prstGeom prst="roundRect">
            <a:avLst>
              <a:gd name="adj" fmla="val 375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1225296"/>
            <a:ext cx="303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5012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32688" y="1792224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道结构化题目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32688" y="2103120"/>
            <a:ext cx="3035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个岗位 · 每题 18 字段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89120" y="1097280"/>
            <a:ext cx="3474720" cy="1463040"/>
          </a:xfrm>
          <a:prstGeom prst="roundRect">
            <a:avLst>
              <a:gd name="adj" fmla="val 375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08576" y="1225296"/>
            <a:ext cx="303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74011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608576" y="1792224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条向量检索条目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608576" y="2103120"/>
            <a:ext cx="3035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8003 服务两段式检索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65008" y="1097280"/>
            <a:ext cx="3474720" cy="1463040"/>
          </a:xfrm>
          <a:prstGeom prst="roundRect">
            <a:avLst>
              <a:gd name="adj" fmla="val 375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84464" y="1225296"/>
            <a:ext cx="303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2824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284464" y="1792224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项冒烟测试全过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84464" y="2103120"/>
            <a:ext cx="3035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 180 项单元与接口测试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13232" y="278892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岗位题量分布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13232" y="32004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Java 后端开发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313432" y="3264408"/>
            <a:ext cx="4160520" cy="182880"/>
          </a:xfrm>
          <a:prstGeom prst="rect">
            <a:avLst/>
          </a:prstGeom>
          <a:solidFill>
            <a:srgbClr val="F5F7FB"/>
          </a:solidFill>
          <a:ln/>
        </p:spPr>
      </p:sp>
      <p:sp>
        <p:nvSpPr>
          <p:cNvPr id="23" name="Shape 21"/>
          <p:cNvSpPr/>
          <p:nvPr/>
        </p:nvSpPr>
        <p:spPr>
          <a:xfrm>
            <a:off x="2313432" y="3264408"/>
            <a:ext cx="4160520" cy="1828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0" y="32004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2146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13232" y="36576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前端开发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313432" y="3721608"/>
            <a:ext cx="4160520" cy="182880"/>
          </a:xfrm>
          <a:prstGeom prst="rect">
            <a:avLst/>
          </a:prstGeom>
          <a:solidFill>
            <a:srgbClr val="F5F7FB"/>
          </a:solidFill>
          <a:ln/>
        </p:spPr>
      </p:sp>
      <p:sp>
        <p:nvSpPr>
          <p:cNvPr id="27" name="Shape 25"/>
          <p:cNvSpPr/>
          <p:nvPr/>
        </p:nvSpPr>
        <p:spPr>
          <a:xfrm>
            <a:off x="2313432" y="3721608"/>
            <a:ext cx="1423030" cy="1828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8" name="Text 26"/>
          <p:cNvSpPr/>
          <p:nvPr/>
        </p:nvSpPr>
        <p:spPr>
          <a:xfrm>
            <a:off x="6583680" y="36576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13232" y="41148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系统设计工程师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313432" y="4178808"/>
            <a:ext cx="4160520" cy="182880"/>
          </a:xfrm>
          <a:prstGeom prst="rect">
            <a:avLst/>
          </a:prstGeom>
          <a:solidFill>
            <a:srgbClr val="F5F7FB"/>
          </a:solidFill>
          <a:ln/>
        </p:spPr>
      </p:sp>
      <p:sp>
        <p:nvSpPr>
          <p:cNvPr id="31" name="Shape 29"/>
          <p:cNvSpPr/>
          <p:nvPr/>
        </p:nvSpPr>
        <p:spPr>
          <a:xfrm>
            <a:off x="2313432" y="4178808"/>
            <a:ext cx="1570373" cy="1828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0" y="41148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810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13232" y="45720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测试开发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313432" y="4636008"/>
            <a:ext cx="4160520" cy="182880"/>
          </a:xfrm>
          <a:prstGeom prst="rect">
            <a:avLst/>
          </a:prstGeom>
          <a:solidFill>
            <a:srgbClr val="F5F7FB"/>
          </a:solidFill>
          <a:ln/>
        </p:spPr>
      </p:sp>
      <p:sp>
        <p:nvSpPr>
          <p:cNvPr id="35" name="Shape 33"/>
          <p:cNvSpPr/>
          <p:nvPr/>
        </p:nvSpPr>
        <p:spPr>
          <a:xfrm>
            <a:off x="2313432" y="4636008"/>
            <a:ext cx="1293135" cy="1828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6" name="Text 34"/>
          <p:cNvSpPr/>
          <p:nvPr/>
        </p:nvSpPr>
        <p:spPr>
          <a:xfrm>
            <a:off x="6583680" y="45720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667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13232" y="50292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算法工程师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313432" y="5093208"/>
            <a:ext cx="4160520" cy="182880"/>
          </a:xfrm>
          <a:prstGeom prst="rect">
            <a:avLst/>
          </a:prstGeom>
          <a:solidFill>
            <a:srgbClr val="F5F7FB"/>
          </a:solidFill>
          <a:ln/>
        </p:spPr>
      </p:sp>
      <p:sp>
        <p:nvSpPr>
          <p:cNvPr id="39" name="Shape 37"/>
          <p:cNvSpPr/>
          <p:nvPr/>
        </p:nvSpPr>
        <p:spPr>
          <a:xfrm>
            <a:off x="2313432" y="5093208"/>
            <a:ext cx="1269870" cy="1828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0" name="Text 38"/>
          <p:cNvSpPr/>
          <p:nvPr/>
        </p:nvSpPr>
        <p:spPr>
          <a:xfrm>
            <a:off x="6583680" y="50292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655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772400" y="2788920"/>
            <a:ext cx="3776472" cy="3127248"/>
          </a:xfrm>
          <a:prstGeom prst="roundRect">
            <a:avLst>
              <a:gd name="adj" fmla="val 1754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973568" y="292608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质量治理与测试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7973568" y="341985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4" name="Text 42"/>
          <p:cNvSpPr/>
          <p:nvPr/>
        </p:nvSpPr>
        <p:spPr>
          <a:xfrm>
            <a:off x="8247888" y="3273552"/>
            <a:ext cx="3154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题库来源　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公开资料库 + 大厂真题语料 + 团队原创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973568" y="405993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6" name="Text 44"/>
          <p:cNvSpPr/>
          <p:nvPr/>
        </p:nvSpPr>
        <p:spPr>
          <a:xfrm>
            <a:off x="8247888" y="3913632"/>
            <a:ext cx="3154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治理重写　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追问 3230 · L2 2682 · L3 2915 · 降级策略 5012 条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973568" y="470001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8" name="Text 46"/>
          <p:cNvSpPr/>
          <p:nvPr/>
        </p:nvSpPr>
        <p:spPr>
          <a:xfrm>
            <a:off x="8247888" y="4553712"/>
            <a:ext cx="3154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测试覆盖　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 / 算法 / 接口 / 页面 / 异常降级五层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7973568" y="534009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50" name="Text 48"/>
          <p:cNvSpPr/>
          <p:nvPr/>
        </p:nvSpPr>
        <p:spPr>
          <a:xfrm>
            <a:off x="8247888" y="5193792"/>
            <a:ext cx="3154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典型问题　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图谱不一致 444 / 939 题；检索超时 5 秒误判改 60 秒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协作机制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 · 1.3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298448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1152144"/>
            <a:ext cx="10561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接口契约先行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接口文档是唯一权威；前端不直接访问 AI 服务，请求经主后端统一转发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223113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084832"/>
            <a:ext cx="10561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安全边界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服务对外只暴露结构化字段与评分结果，密钥与内部提示词不出服务边界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3163824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017520"/>
            <a:ext cx="10561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例会与沟通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线下会议与腾讯会议为正式讨论场合，即时通讯随时对接；关键节点组织全体会议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4096512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3950208"/>
            <a:ext cx="10561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版本管理与交付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 版本管理；GitHub 与 Gitee 双远程；密钥与运行数据不入库；一键启动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49560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端口分配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5303520"/>
          <a:ext cx="10835640" cy="914400"/>
        </p:xfrm>
        <a:graphic>
          <a:graphicData uri="http://schemas.openxmlformats.org/drawingml/2006/table">
            <a:tbl>
              <a:tblPr/>
              <a:tblGrid>
                <a:gridCol w="2167128"/>
                <a:gridCol w="2167128"/>
                <a:gridCol w="2167128"/>
                <a:gridCol w="2167128"/>
                <a:gridCol w="2167128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8001 主后端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8003 知识库检索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8005 对话与评估层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5173 前端开发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5273 演示前端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后端开发 A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知识库构建与测试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对话层与面试官人格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评估与报告生成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前端全栈开发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后端开发 A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实施路线与阶段划分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85800" y="1024128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四个阶段推进，后两阶段并行：集成增强期间测试与文档同步起步，直到交付前收口。</a:t>
            </a:r>
            <a:endParaRPr lang="en-US" sz="1200" dirty="0"/>
          </a:p>
        </p:txBody>
      </p:sp>
      <p:pic>
        <p:nvPicPr>
          <p:cNvPr id="9" name="Image 0" descr="D:\外包竞赛\project\ai-interview-system\docs\submission\figures\fig-2-1-项目实施甘特图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1417320"/>
            <a:ext cx="8540496" cy="493640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阶段一：需求分析与方案设计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078992"/>
            <a:ext cx="6035040" cy="5074920"/>
          </a:xfrm>
          <a:prstGeom prst="roundRect">
            <a:avLst>
              <a:gd name="adj" fmla="val 1081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9" name="Image 0" descr="D:\外包竞赛\project\ai-interview-system\docs\submission\figures\fig-1-2-求职失败主要原因.png">    </p:cNvPr>
          <p:cNvPicPr>
            <a:picLocks noChangeAspect="1"/>
          </p:cNvPicPr>
          <p:nvPr/>
        </p:nvPicPr>
        <p:blipFill>
          <a:blip r:embed="rId1"/>
          <a:srcRect l="-25000" r="-25000" t="0" b="0"/>
          <a:stretch/>
        </p:blipFill>
        <p:spPr>
          <a:xfrm>
            <a:off x="868680" y="1554480"/>
            <a:ext cx="5760720" cy="38404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68680" y="557784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需求分析依据：求职失败主因调查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995160" y="1078992"/>
            <a:ext cx="4480560" cy="841248"/>
          </a:xfrm>
          <a:prstGeom prst="rect">
            <a:avLst/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159752" y="1133856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核心目标　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明确系统边界与技术路线，形成可执行的分工与开发计划。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995160" y="2212848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4" name="Text 11"/>
          <p:cNvSpPr/>
          <p:nvPr/>
        </p:nvSpPr>
        <p:spPr>
          <a:xfrm>
            <a:off x="7269480" y="2066544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需求梳理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分析痛点，确定产品形态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995160" y="3035808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6" name="Text 13"/>
          <p:cNvSpPr/>
          <p:nvPr/>
        </p:nvSpPr>
        <p:spPr>
          <a:xfrm>
            <a:off x="7269480" y="2889504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技术选型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FastAPI 异步 + Vue 3；SQLite 零配置启动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995160" y="3858768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8" name="Text 15"/>
          <p:cNvSpPr/>
          <p:nvPr/>
        </p:nvSpPr>
        <p:spPr>
          <a:xfrm>
            <a:off x="7269480" y="3712464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评估体系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五维模型与各岗位权重表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995160" y="4681728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0" name="Text 17"/>
          <p:cNvSpPr/>
          <p:nvPr/>
        </p:nvSpPr>
        <p:spPr>
          <a:xfrm>
            <a:off x="7269480" y="4535424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协作约定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目录归属、端口分配、接口先行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995160" y="5440680"/>
            <a:ext cx="44805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159752" y="5486400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交付物：需求文档 · 功能清单 · 评估维度定义 · 接口初稿 · 协作指南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阶段二：核心功能开发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097280"/>
            <a:ext cx="10835640" cy="548640"/>
          </a:xfrm>
          <a:prstGeom prst="rect">
            <a:avLst/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15214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核心目标　</a:t>
            </a:r>
            <a:pPr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跑通「创建面试 → 出题 → 作答 → 动态追问 → 结束 → 生成报告」完整闭环。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1810512"/>
            <a:ext cx="260604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810512"/>
            <a:ext cx="26060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2" name="Text 10"/>
          <p:cNvSpPr/>
          <p:nvPr/>
        </p:nvSpPr>
        <p:spPr>
          <a:xfrm>
            <a:off x="896112" y="199339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后端基座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96112" y="2359152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数据模型、鉴权体系、面试状态机、统一响应与错误码；一键启动脚本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493008" y="1810512"/>
            <a:ext cx="260604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93008" y="1810512"/>
            <a:ext cx="26060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0" y="199339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评估能力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0" y="2359152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五维评分与报告文本生成上线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254496" y="1810512"/>
            <a:ext cx="260604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54496" y="1810512"/>
            <a:ext cx="26060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0" name="Text 18"/>
          <p:cNvSpPr/>
          <p:nvPr/>
        </p:nvSpPr>
        <p:spPr>
          <a:xfrm>
            <a:off x="6419088" y="199339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题库与算法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19088" y="2359152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题库入库；面试官算法原生接入数据源链，形成五级结构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9015984" y="1810512"/>
            <a:ext cx="260604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015984" y="1810512"/>
            <a:ext cx="26060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4" name="Text 22"/>
          <p:cNvSpPr/>
          <p:nvPr/>
        </p:nvSpPr>
        <p:spPr>
          <a:xfrm>
            <a:off x="9180576" y="199339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演示前端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180576" y="2359152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正式前端完成前先行交付，作为演示与联调入口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31520" y="3611880"/>
            <a:ext cx="10835640" cy="2395728"/>
          </a:xfrm>
          <a:prstGeom prst="roundRect">
            <a:avLst>
              <a:gd name="adj" fmla="val 2290"/>
            </a:avLst>
          </a:prstGeom>
          <a:solidFill>
            <a:srgbClr val="1E1E1E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520" y="3611880"/>
            <a:ext cx="128016" cy="2395728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8" name="Text 26"/>
          <p:cNvSpPr/>
          <p:nvPr/>
        </p:nvSpPr>
        <p:spPr>
          <a:xfrm>
            <a:off x="1024128" y="37490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V5 换代　一次迭代，三层重做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024128" y="4370832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1207008" y="426110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207008" y="4608576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D4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从数百题扩充至 5012 题，补齐得分点与三级追问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544568" y="4370832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4727448" y="426110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727448" y="4608576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D4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面试官算法按新结构重写，追问触达率 66% → 100%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065008" y="4370832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8247888" y="426110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检索与评估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247888" y="4608576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D4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RAG 服务接入数据源链；评估按题注入校准锚点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31520" y="6144768"/>
            <a:ext cx="10835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交付物：主后端服务 · 评估能力 · 面试官算法 · V5 题库与检索服务 · 演示前端 · 接口与对接文档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阶段三：系统集成与能力增强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097280"/>
            <a:ext cx="10835640" cy="548640"/>
          </a:xfrm>
          <a:prstGeom prst="rect">
            <a:avLst/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15214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核心目标　</a:t>
            </a:r>
            <a:pPr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在闭环之上扩展功能面与 AI 能力，形成练习、评估、提升的完整闭环。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1874520"/>
            <a:ext cx="352044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874520"/>
            <a:ext cx="91440" cy="14173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2" name="Text 10"/>
          <p:cNvSpPr/>
          <p:nvPr/>
        </p:nvSpPr>
        <p:spPr>
          <a:xfrm>
            <a:off x="987552" y="203911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个人中心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87552" y="24231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资料编辑、头像上传、按岗位筛选的历史与成长曲线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407408" y="1874520"/>
            <a:ext cx="352044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07408" y="1874520"/>
            <a:ext cx="91440" cy="14173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203911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报告分享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663440" y="24231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限时免登录分享链接，重复生成复用未过期链接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083296" y="1874520"/>
            <a:ext cx="352044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83296" y="1874520"/>
            <a:ext cx="91440" cy="14173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0" name="Text 18"/>
          <p:cNvSpPr/>
          <p:nvPr/>
        </p:nvSpPr>
        <p:spPr>
          <a:xfrm>
            <a:off x="8339328" y="203911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学习资源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339328" y="24231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学习计划推荐上线，按评估结果给出提升路径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1520" y="3447288"/>
            <a:ext cx="352044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1520" y="3447288"/>
            <a:ext cx="91440" cy="14173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4" name="Text 22"/>
          <p:cNvSpPr/>
          <p:nvPr/>
        </p:nvSpPr>
        <p:spPr>
          <a:xfrm>
            <a:off x="987552" y="361188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简历导入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87552" y="399592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上传解析后可回填至面试上下文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407408" y="3447288"/>
            <a:ext cx="352044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07408" y="3447288"/>
            <a:ext cx="91440" cy="14173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8" name="Text 26"/>
          <p:cNvSpPr/>
          <p:nvPr/>
        </p:nvSpPr>
        <p:spPr>
          <a:xfrm>
            <a:off x="4663440" y="361188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对话层迭代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663440" y="399592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三个版本：语音转写、成长档案、考后复盘、朗读与体态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83296" y="3447288"/>
            <a:ext cx="352044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83296" y="3447288"/>
            <a:ext cx="91440" cy="14173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2" name="Text 30"/>
          <p:cNvSpPr/>
          <p:nvPr/>
        </p:nvSpPr>
        <p:spPr>
          <a:xfrm>
            <a:off x="8339328" y="361188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语音读数回传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339328" y="399592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语速、停顿等读数随作答回传，参与报告生成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31520" y="5120640"/>
            <a:ext cx="10835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前端集中开发：后端按需求文档分批交付接口，前端完成后交付 25 条接口对照表，双方逐条核对修正。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31520" y="6108192"/>
            <a:ext cx="10835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交付物：个人中心与分享接口 · 简历与学习资源接口 · 对话层服务集成 · 语音能力 · 前端全部页面与联调记录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阶段四：测试优化与成果交付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097280"/>
            <a:ext cx="10835640" cy="548640"/>
          </a:xfrm>
          <a:prstGeom prst="rect">
            <a:avLst/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15214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核心目标　</a:t>
            </a:r>
            <a:pPr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验证质量、优化性能，完成全套成果材料的整理与提交。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1847088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0976" y="1975104"/>
            <a:ext cx="2167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50976" y="2542032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项自动化测试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50976" y="2852928"/>
            <a:ext cx="2167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覆盖全部核心模块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93008" y="1847088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12464" y="1975104"/>
            <a:ext cx="2167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2824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3712464" y="2542032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项冒烟测试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712464" y="2852928"/>
            <a:ext cx="2167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全部通过、失败 0 项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54496" y="1847088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73952" y="1975104"/>
            <a:ext cx="2167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2000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473952" y="2542032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场流程仿真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73952" y="2852928"/>
            <a:ext cx="2167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岗位 × 400 场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015984" y="1847088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35440" y="1975104"/>
            <a:ext cx="2167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秒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9235440" y="2542032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全量测试耗时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235440" y="2852928"/>
            <a:ext cx="2167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测试库与开发库隔离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31520" y="3675888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验证与优化动作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731520" y="4178808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8" name="Text 26"/>
          <p:cNvSpPr/>
          <p:nvPr/>
        </p:nvSpPr>
        <p:spPr>
          <a:xfrm>
            <a:off x="1005840" y="4032504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效果回归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每次算法与数据迭代后重跑仿真，以「兜底 0 次、收尾题 100%」为基线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31520" y="4800600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0" name="Text 28"/>
          <p:cNvSpPr/>
          <p:nvPr/>
        </p:nvSpPr>
        <p:spPr>
          <a:xfrm>
            <a:off x="1005840" y="4654296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并发优化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写前日志模式与忙等超时配置，多场面试并发提交不锁库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31520" y="5422392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5276088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前端部署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构建产物拷入主服务静态目录，同端口挂载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818120" y="3675888"/>
            <a:ext cx="3749040" cy="2212848"/>
          </a:xfrm>
          <a:prstGeom prst="roundRect">
            <a:avLst>
              <a:gd name="adj" fmla="val 2479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01000" y="379476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文档与材料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001000" y="4270248"/>
            <a:ext cx="82296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0" y="416966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开发手册与新增代码清单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001000" y="4599432"/>
            <a:ext cx="82296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8" name="Text 36"/>
          <p:cNvSpPr/>
          <p:nvPr/>
        </p:nvSpPr>
        <p:spPr>
          <a:xfrm>
            <a:off x="8229600" y="449884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竞赛三册材料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001000" y="4928616"/>
            <a:ext cx="82296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0" y="48280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详细方案章节稿与配图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001000" y="5257800"/>
            <a:ext cx="82296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2" name="Text 40"/>
          <p:cNvSpPr/>
          <p:nvPr/>
        </p:nvSpPr>
        <p:spPr>
          <a:xfrm>
            <a:off x="8229600" y="51572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前端联调指南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8001000" y="5586984"/>
            <a:ext cx="82296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0" y="54864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本材料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风险与应对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34440"/>
          <a:ext cx="1083564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708660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风险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应对措施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外部服务（大模型、知识库）不可用或超时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五级数据源降级链逐级兜底；内置兜底不依赖任何外部服务；超时预算按实测耗时分档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题库换代导致算法与评估失效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换代后重跑全岗位流程仿真；受控词表集中定义，非法值直接报错而非静默返回空集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大模型调用成本随使用量增长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优化提示词长度；高频场景建立缓存；精度允许时以小模型处理简单场景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语音识别在真人场景下准确率不确定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提供转写文本手动校对；持续优化语音活动检测参数与热词表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数据隐私与合规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录音即用即删，不进数据库、不进日志；用户可随时删除自己的面试记录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运行环境差异导致服务起不来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启动脚本纯 ASCII 引导规避终端编码差异；向量库目录固定纯 ASCII 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阶段任务与人员分工表（一）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11183112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600200"/>
                <a:gridCol w="3703320"/>
                <a:gridCol w="1417320"/>
                <a:gridCol w="1600200"/>
                <a:gridCol w="9875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关键任务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任务描述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负责岗位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交付物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一、需求分析与方案设计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需求梳理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分析求职痛点，确定产品形态与功能范围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月中旬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产品需求文档、功能清单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技术选型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确定框架、数据库、服务拆分与部署方式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月中旬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小丁主导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技术方案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评估体系设计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五维评分模型与各岗位权重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月中旬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小黄，全队审定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评估维度定义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分工与协作约定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目录归属、端口分配、接口契约规范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月下旬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协作指南、接口初稿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二、核心功能开发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后端基座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数据模型、鉴权、状态机、异常体系、一键启动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月下旬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主后端服务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评估能力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五维评分与报告文本生成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月上旬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小黄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整合进 8005 服务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面试官对话层与算法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面试官人格与追问策略、图谱与检索接入；题库入库由小李负责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月上旬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小陈、小李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对话层服务（8005）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演示前端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正式前端交付前的演示与联调入口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月上旬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演示前端（5273）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V5 换代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题库扩至 5012 题，算法、检索、评估同步重做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 14 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V5 题库、检索服务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6172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注：8 月日期依据提交记录与文档时间推断；阶段一 · 阶段二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阶段任务与人员分工表（二）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11183112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600200"/>
                <a:gridCol w="3703320"/>
                <a:gridCol w="1417320"/>
                <a:gridCol w="1600200"/>
                <a:gridCol w="9875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关键任务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任务描述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负责岗位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交付物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三、系统集成与能力增强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个人中心与报告分享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资料编辑、头像、按岗位筛选、限时分享链接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月中旬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相关接口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学习资源与简历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学习计划推荐、简历上传解析与回填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月下旬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相关接口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对话层服务迭代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三版迭代、成长档案聚合接口、考后复盘；语音转写由小黄、小冯主责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月下旬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小陈、小丁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对话层服务集成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前端集中开发与联调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 个页面实现，接口对照逐条核对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月下旬至 10 月上旬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小冯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构建产物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四、测试优化与成果交付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测试与仿真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180 项自动化用例、全岗位流程仿真；小陈参与对话层适配器测试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月上旬起持续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测试套件、仿真数据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性能与并发优化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并发写入配置、超时预算分档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月下旬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优化配置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文档与材料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开发手册、代码清单、三册材料、章节稿、本文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月中旬至 10 月上旬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全队（小黄统筹）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全套提交材料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6172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注：8 月日期依据提交记录与文档时间推断；阶段三 · 阶段四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团队协作纪实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协作痕迹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31520" y="1024128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线下集中开发与线上会议并行推进，跨成员的接口与数据对接全部以文档留痕。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481328"/>
            <a:ext cx="6035040" cy="4709160"/>
          </a:xfrm>
          <a:prstGeom prst="roundRect">
            <a:avLst>
              <a:gd name="adj" fmla="val 971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10" name="Image 0" descr="D:\外包竞赛\project\ai-interview-system\docs\submission\figures\team\team-会议现场.png">    </p:cNvPr>
          <p:cNvPicPr>
            <a:picLocks noChangeAspect="1"/>
          </p:cNvPicPr>
          <p:nvPr/>
        </p:nvPicPr>
        <p:blipFill>
          <a:blip r:embed="rId1"/>
          <a:srcRect l="-18831" r="-18831" t="0" b="0"/>
          <a:stretch/>
        </p:blipFill>
        <p:spPr>
          <a:xfrm>
            <a:off x="841248" y="1572768"/>
            <a:ext cx="5815584" cy="422452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41248" y="5852160"/>
            <a:ext cx="5815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线下集中开发（会议室现场）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995160" y="1481328"/>
            <a:ext cx="4434840" cy="2286000"/>
          </a:xfrm>
          <a:prstGeom prst="roundRect">
            <a:avLst>
              <a:gd name="adj" fmla="val 200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13" name="Image 1" descr="D:\外包竞赛\project\ai-interview-system\docs\submission\figures\team\team-腾讯会议.png">    </p:cNvPr>
          <p:cNvPicPr>
            <a:picLocks noChangeAspect="1"/>
          </p:cNvPicPr>
          <p:nvPr/>
        </p:nvPicPr>
        <p:blipFill>
          <a:blip r:embed="rId2"/>
          <a:srcRect l="-62439" r="-62439" t="0" b="0"/>
          <a:stretch/>
        </p:blipFill>
        <p:spPr>
          <a:xfrm>
            <a:off x="7104888" y="1572768"/>
            <a:ext cx="4215384" cy="18745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04888" y="3474720"/>
            <a:ext cx="4215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线上会议对接（腾讯会议）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995160" y="3904488"/>
            <a:ext cx="4434840" cy="2286000"/>
          </a:xfrm>
          <a:prstGeom prst="roundRect">
            <a:avLst>
              <a:gd name="adj" fmla="val 200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16" name="Image 2" descr="D:\外包竞赛\project\ai-interview-system\docs\submission\figures\team\team-对接文档核对.png">    </p:cNvPr>
          <p:cNvPicPr>
            <a:picLocks noChangeAspect="1"/>
          </p:cNvPicPr>
          <p:nvPr/>
        </p:nvPicPr>
        <p:blipFill>
          <a:blip r:embed="rId3"/>
          <a:srcRect l="-62439" r="-62439" t="0" b="0"/>
          <a:stretch/>
        </p:blipFill>
        <p:spPr>
          <a:xfrm>
            <a:off x="7104888" y="3995928"/>
            <a:ext cx="4215384" cy="18745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104888" y="5897880"/>
            <a:ext cx="4215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跨成员对接文档（接口核对）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10712"/>
            <a:ext cx="12191695" cy="36576"/>
          </a:xfrm>
          <a:prstGeom prst="rect">
            <a:avLst/>
          </a:prstGeom>
          <a:solidFill>
            <a:srgbClr val="2B2F36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965960"/>
            <a:ext cx="777240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Shape 2"/>
          <p:cNvSpPr/>
          <p:nvPr/>
        </p:nvSpPr>
        <p:spPr>
          <a:xfrm>
            <a:off x="1737360" y="1965960"/>
            <a:ext cx="457200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2860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五个岗位，一条链路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68680" y="331012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从题库生产到多模态面试，从五维评分到成长追踪，每一段都有明确的所有者与可核查的产出。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68680" y="48463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深镜智聘｜Alpha 小队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深镜智聘 · 项目的详细分工及过程</dc:title>
  <dc:subject>PptxGenJS Presentation</dc:subject>
  <dc:creator>Alpha 小队</dc:creator>
  <cp:lastModifiedBy>Alpha 小队</cp:lastModifiedBy>
  <cp:revision>1</cp:revision>
  <dcterms:created xsi:type="dcterms:W3CDTF">2026-10-09T14:46:13Z</dcterms:created>
  <dcterms:modified xsi:type="dcterms:W3CDTF">2026-10-09T14:46:13Z</dcterms:modified>
</cp:coreProperties>
</file>