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0"/>
            <a:ext cx="310896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0"/>
            <a:ext cx="45720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1005840"/>
            <a:ext cx="1371600" cy="9144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1234440"/>
            <a:ext cx="86868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Shape 4"/>
          <p:cNvSpPr/>
          <p:nvPr/>
        </p:nvSpPr>
        <p:spPr>
          <a:xfrm>
            <a:off x="9814255" y="1463040"/>
            <a:ext cx="502920" cy="91440"/>
          </a:xfrm>
          <a:prstGeom prst="rect">
            <a:avLst/>
          </a:prstGeom>
          <a:solidFill>
            <a:srgbClr val="3A4048"/>
          </a:solidFill>
          <a:ln/>
        </p:spPr>
      </p:sp>
      <p:sp>
        <p:nvSpPr>
          <p:cNvPr id="7" name="Shape 5"/>
          <p:cNvSpPr/>
          <p:nvPr/>
        </p:nvSpPr>
        <p:spPr>
          <a:xfrm>
            <a:off x="10180015" y="4206240"/>
            <a:ext cx="1051560" cy="10515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8" name="Shape 6"/>
          <p:cNvSpPr/>
          <p:nvPr/>
        </p:nvSpPr>
        <p:spPr>
          <a:xfrm>
            <a:off x="10591495" y="4709160"/>
            <a:ext cx="640080" cy="64008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893247" y="5029200"/>
            <a:ext cx="219456" cy="219456"/>
          </a:xfrm>
          <a:prstGeom prst="ellipse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173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基于多模态交互与动态知识图谱的计算机岗位</a:t>
            </a:r>
            <a:endParaRPr lang="en-US" sz="15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模拟面试与能力提升平台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2834640" cy="4114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24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项目的详细分工及过程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 小队｜2026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468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3794760"/>
            <a:ext cx="1280160" cy="4114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481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4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80644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806440" y="2286000"/>
            <a:ext cx="5486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852928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26974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团队构成与分工原则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06440" y="3511296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33558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五个岗位的职责与产出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06440" y="4169664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40142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协作机制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14813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4E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64692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646920" y="2286000"/>
            <a:ext cx="54864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6920" y="2852928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893808" y="26974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实施路线与四个阶段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646920" y="3511296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893808" y="33558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46920" y="4169664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93808" y="40142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阶段任务与人员分工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项目一览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面向计算机岗位的 AI 模拟面试与能力提升平台：多轮动态追问、五维能力评估、成长追踪闭环。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95681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5012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525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道结构化题目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5256" y="283464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5 个技术岗位，每题 18 个字段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95681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74011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6285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条向量检索条目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62856" y="283464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语义召回 + 交叉编码器精排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0100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95681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20456" y="252374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0456" y="283464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全量运行约 10 秒，测试库隔离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703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8313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5256" y="439826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场流程仿真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" y="470916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岗位 × 400 场，兜底 0 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703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38313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62856" y="439826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轮制双链路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62856" y="470916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原链路 7 轮制与引擎 10 题制并存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370332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8313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220456" y="4398264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维能力评估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0456" y="4709160"/>
            <a:ext cx="29900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· 逻辑 · 表达 · 应变 · 匹配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团队构成与分工原则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人团队，采用「技术分工 + 文档共建」的协作模式，按技术链路一人负责一段。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53619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9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前端界面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5173 / 同端口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97480" y="1682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609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主后端 8001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统一接口与转发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32120" y="1682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53619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15875">
            <a:solidFill>
              <a:srgbClr val="00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对话与评估层 8005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153619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15875">
            <a:solidFill>
              <a:srgbClr val="006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知识库检索服务 8003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10835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06040"/>
                <a:gridCol w="62179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核心职责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后端开发 A · 小丁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主后端与系统集成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数据模型与接口体系、面试流程编排、AI 能力接入与降级、部署与一键启动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对话层与面试官人格 · 小陈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对话层服务与面试官算法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面试官人格提示词、动态追问逻辑与节奏控制、知识图谱与检索接入、语音转写与成长档案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评估与报告生成 · 小黄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五维评分提示词、按题校准、语音指标分析、报告文本生成、项目文档统筹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前端全栈开发 · 小冯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正式前端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个页面与 1 个设置组件的交互实现、语音录制与播放、报告可视化、构建产物交付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知识库构建与测试 · 小李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题库与检索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5012 题题库生产与导入、74011 条向量检索服务、RAG 检索接口、全流程功能测试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 A：主后端与面试状态机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22529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7899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数据基座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张业务表；词表收敛到唯一定义处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5681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1051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流程编排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表驱动状态机；1 道开场题 + 6 轮动态追问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4203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断点可恢复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出题即落库、作答再回填，任意环节可恢复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22529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07899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集成与高可用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五级数据源链；超时分档 60 / 30 / 15 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1051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双链路隔离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线路创建时定死、整场只读；失效自动收尾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68833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54203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工程化交付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项测试；一键启动四个进程；双远程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21408" y="3401568"/>
            <a:ext cx="7955280" cy="2926080"/>
          </a:xfrm>
          <a:prstGeom prst="roundRect">
            <a:avLst>
              <a:gd name="adj" fmla="val 1875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1" name="Image 0" descr="D:\外包竞赛\project\ai-interview-system\docs\submission\figures\fig-6-2-1-面试流程引擎.png">    </p:cNvPr>
          <p:cNvPicPr>
            <a:picLocks noChangeAspect="1"/>
          </p:cNvPicPr>
          <p:nvPr/>
        </p:nvPicPr>
        <p:blipFill>
          <a:blip r:embed="rId1"/>
          <a:srcRect l="-90667" r="-90667" t="0" b="0"/>
          <a:stretch/>
        </p:blipFill>
        <p:spPr>
          <a:xfrm>
            <a:off x="2240280" y="3493008"/>
            <a:ext cx="771753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对话层与面试官人格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1859890" cy="868680"/>
          </a:xfrm>
          <a:prstGeom prst="roundRect">
            <a:avLst>
              <a:gd name="adj" fmla="val 6316"/>
            </a:avLst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锚点定位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历史中最近一道题库原题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91410" y="1399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5458" y="1143000"/>
            <a:ext cx="1859890" cy="868680"/>
          </a:xfrm>
          <a:prstGeom prst="roundRect">
            <a:avLst>
              <a:gd name="adj" fmla="val 6316"/>
            </a:avLst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66898" y="123444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基础追问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6898" y="160020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未追问过取此层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35347" y="1399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9395" y="1143000"/>
            <a:ext cx="1859890" cy="868680"/>
          </a:xfrm>
          <a:prstGeom prst="roundRect">
            <a:avLst>
              <a:gd name="adj" fmla="val 6316"/>
            </a:avLst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10835" y="123444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递进追问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10835" y="160020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已追问一次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79285" y="1399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3333" y="1143000"/>
            <a:ext cx="1859890" cy="868680"/>
          </a:xfrm>
          <a:prstGeom prst="roundRect">
            <a:avLst>
              <a:gd name="adj" fmla="val 6316"/>
            </a:avLst>
          </a:prstGeom>
          <a:solidFill>
            <a:srgbClr val="00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554773" y="123444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拓展追问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54773" y="160020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已追问两次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3222" y="1399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07270" y="1143000"/>
            <a:ext cx="1859890" cy="868680"/>
          </a:xfrm>
          <a:prstGeom prst="roundRect">
            <a:avLst>
              <a:gd name="adj" fmla="val 6316"/>
            </a:avLst>
          </a:prstGeom>
          <a:solidFill>
            <a:srgbClr val="0044B8"/>
          </a:solidFill>
          <a:ln/>
        </p:spPr>
      </p:sp>
      <p:sp>
        <p:nvSpPr>
          <p:cNvPr id="25" name="Text 23"/>
          <p:cNvSpPr/>
          <p:nvPr/>
        </p:nvSpPr>
        <p:spPr>
          <a:xfrm>
            <a:off x="9798710" y="123444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换新题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98710" y="160020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三次以上或到收尾轮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248716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340864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露怯的降级引导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答案不足 20 字或出现 12 个露怯短语时，追问改为降级话术，把考生拉回可回答的层面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200400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054096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收尾控制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6、7 轮强制换新题并偏向行为素质题；连续露怯的考生跳过深度压轴题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913632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76732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换代三处重写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素材字段直读（119 行正则层作废）；L1 触发改语义分流，追问触达率 66% → 100%；收尾题池改按题型选取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626864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480560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对话层服务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8005 独立运行：面试官人格提示词、追问生成、语音转写、成长档案与考后复盘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534009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193792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骨架经两轮审查与 2700 场模拟；迭代后按 5 岗位 × 400 场回归，兜底 0 次、收尾题 100%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870448"/>
            <a:ext cx="108356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9161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主要产出：interviewer_new 算法模块与说明 · 对话层服务及其集成适配 · 算法测试用例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评估与报告生成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115568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115568"/>
            <a:ext cx="3520440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280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客观线 · Qwen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把回答抽成技术主张、标准答案拆成原子断言，逐条判断支持、矛盾或证据不足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1115568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115568"/>
            <a:ext cx="3520440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1280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主观线 · DeepSeek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0288" y="16276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五维评价与判档：技术 / 逻辑 / 表达 / 应变 / 匹配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83296" y="1115568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83296" y="1115568"/>
            <a:ext cx="3520440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2801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6176" y="162763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两条线按置信度感知权重合成最终分数，不采用固定比例加权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2450592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表达指标口径　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语速 = 去标点字数 ÷ 净说话分钟　·　长停顿 = 人声间隔 &gt; 1500ms　·　填充词按字面量匹配　·　音量稳定性 = 3 秒窗 RMS 标准差 ÷ 均值；停顿检测基于人声活动检测，而非转写段间隔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55648" y="3127248"/>
            <a:ext cx="8686800" cy="3108960"/>
          </a:xfrm>
          <a:prstGeom prst="roundRect">
            <a:avLst>
              <a:gd name="adj" fmla="val 1765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2" name="Image 0" descr="D:\外包竞赛\project\ai-interview-system\docs\submission\figures\fig-8-2-1-岗位权重对比.png">    </p:cNvPr>
          <p:cNvPicPr>
            <a:picLocks noChangeAspect="1"/>
          </p:cNvPicPr>
          <p:nvPr/>
        </p:nvPicPr>
        <p:blipFill>
          <a:blip r:embed="rId1"/>
          <a:srcRect l="-94375" r="-94375" t="0" b="0"/>
          <a:stretch/>
        </p:blipFill>
        <p:spPr>
          <a:xfrm>
            <a:off x="1874520" y="3218688"/>
            <a:ext cx="844905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前端全栈开发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Vite，14 个页面 + 1 个设置组件，桌面与移动端响应式；以下为实际交付界面的部分截图。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536192"/>
            <a:ext cx="3520440" cy="1810512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0" name="Image 0" descr="D:\外包竞赛\project\ai-interview-system\docs\submission\figures\ui\ui-岗位大厅.png">    </p:cNvPr>
          <p:cNvPicPr>
            <a:picLocks noChangeAspect="1"/>
          </p:cNvPicPr>
          <p:nvPr/>
        </p:nvPicPr>
        <p:blipFill>
          <a:blip r:embed="rId1"/>
          <a:srcRect l="-50269" r="-50269" t="0" b="0"/>
          <a:stretch/>
        </p:blipFill>
        <p:spPr>
          <a:xfrm>
            <a:off x="713232" y="1591056"/>
            <a:ext cx="3410712" cy="1700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岗位大厅：五个岗位卡片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4256" y="1536192"/>
            <a:ext cx="3520440" cy="1810512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3" name="Image 1" descr="D:\外包竞赛\project\ai-interview-system\docs\submission\figures\ui\ui-面试对话室.png">    </p:cNvPr>
          <p:cNvPicPr>
            <a:picLocks noChangeAspect="1"/>
          </p:cNvPicPr>
          <p:nvPr/>
        </p:nvPicPr>
        <p:blipFill>
          <a:blip r:embed="rId2"/>
          <a:srcRect l="-50269" r="-50269" t="0" b="0"/>
          <a:stretch/>
        </p:blipFill>
        <p:spPr>
          <a:xfrm>
            <a:off x="4389120" y="1591056"/>
            <a:ext cx="3410712" cy="17007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34256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面试对话室：文本 + 语音作答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10144" y="1536192"/>
            <a:ext cx="3520440" cy="1810512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6" name="Image 2" descr="D:\外包竞赛\project\ai-interview-system\docs\submission\figures\ui\ui-报告页.png">    </p:cNvPr>
          <p:cNvPicPr>
            <a:picLocks noChangeAspect="1"/>
          </p:cNvPicPr>
          <p:nvPr/>
        </p:nvPicPr>
        <p:blipFill>
          <a:blip r:embed="rId3"/>
          <a:srcRect l="-50269" r="-50269" t="0" b="0"/>
          <a:stretch/>
        </p:blipFill>
        <p:spPr>
          <a:xfrm>
            <a:off x="8065008" y="1591056"/>
            <a:ext cx="3410712" cy="17007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10144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报告页：雷达图与成长曲线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496312" y="3858768"/>
            <a:ext cx="3520440" cy="1810512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9" name="Image 3" descr="D:\外包竞赛\project\ai-interview-system\docs\submission\figures\ui\ui-题库中心.png">    </p:cNvPr>
          <p:cNvPicPr>
            <a:picLocks noChangeAspect="1"/>
          </p:cNvPicPr>
          <p:nvPr/>
        </p:nvPicPr>
        <p:blipFill>
          <a:blip r:embed="rId4"/>
          <a:srcRect l="-50269" r="-50269" t="0" b="0"/>
          <a:stretch/>
        </p:blipFill>
        <p:spPr>
          <a:xfrm>
            <a:off x="2551176" y="3913632"/>
            <a:ext cx="3410712" cy="17007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496312" y="57058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题库中心：5012 题可检索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172200" y="3858768"/>
            <a:ext cx="3520440" cy="1810512"/>
          </a:xfrm>
          <a:prstGeom prst="roundRect">
            <a:avLst>
              <a:gd name="adj" fmla="val 202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22" name="Image 4" descr="D:\外包竞赛\project\ai-interview-system\docs\submission\figures\ui\ui-个人中心.png">    </p:cNvPr>
          <p:cNvPicPr>
            <a:picLocks noChangeAspect="1"/>
          </p:cNvPicPr>
          <p:nvPr/>
        </p:nvPicPr>
        <p:blipFill>
          <a:blip r:embed="rId5"/>
          <a:srcRect l="-50269" r="-50269" t="0" b="0"/>
          <a:stretch/>
        </p:blipFill>
        <p:spPr>
          <a:xfrm>
            <a:off x="6227064" y="3913632"/>
            <a:ext cx="3410712" cy="17007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72200" y="57058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个人中心：资料与历史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13232" y="610819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语音两级设计：本地 Vosk 实时预览 + 服务端转写为准；转写失败保留本地文本并提示，可手动修改后继续。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知识库构建与测试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" y="109728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2529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2688" y="179222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道结构化题目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10312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个岗位 · 每题 18 字段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09728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22529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74011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08576" y="179222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条向量检索条目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8576" y="210312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8003 服务两段式检索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5008" y="109728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22529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2824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84464" y="179222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项冒烟测试全过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210312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169 项单元与接口测试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2788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岗位题量分布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3200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后端开发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13432" y="3264408"/>
            <a:ext cx="4160520" cy="182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2313432" y="3264408"/>
            <a:ext cx="4160520" cy="182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2004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2146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3657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前端开发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13432" y="3721608"/>
            <a:ext cx="4160520" cy="182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2313432" y="3721608"/>
            <a:ext cx="1423030" cy="182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657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系统设计工程师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13432" y="4178808"/>
            <a:ext cx="4160520" cy="182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1" name="Shape 29"/>
          <p:cNvSpPr/>
          <p:nvPr/>
        </p:nvSpPr>
        <p:spPr>
          <a:xfrm>
            <a:off x="2313432" y="4178808"/>
            <a:ext cx="1570373" cy="182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114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测试开发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13432" y="4636008"/>
            <a:ext cx="4160520" cy="182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5" name="Shape 33"/>
          <p:cNvSpPr/>
          <p:nvPr/>
        </p:nvSpPr>
        <p:spPr>
          <a:xfrm>
            <a:off x="2313432" y="4636008"/>
            <a:ext cx="1293135" cy="182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5720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" y="5029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算法工程师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13432" y="5093208"/>
            <a:ext cx="4160520" cy="182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9" name="Shape 37"/>
          <p:cNvSpPr/>
          <p:nvPr/>
        </p:nvSpPr>
        <p:spPr>
          <a:xfrm>
            <a:off x="2313432" y="5093208"/>
            <a:ext cx="1269870" cy="182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0292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0" y="2788920"/>
            <a:ext cx="3776472" cy="3127248"/>
          </a:xfrm>
          <a:prstGeom prst="roundRect">
            <a:avLst>
              <a:gd name="adj" fmla="val 1754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73568" y="29260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质量治理与测试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973568" y="341985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4" name="Text 42"/>
          <p:cNvSpPr/>
          <p:nvPr/>
        </p:nvSpPr>
        <p:spPr>
          <a:xfrm>
            <a:off x="8247888" y="327355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题库来源　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公开资料库 + 大厂真题语料 + 团队原创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73568" y="405993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6" name="Text 44"/>
          <p:cNvSpPr/>
          <p:nvPr/>
        </p:nvSpPr>
        <p:spPr>
          <a:xfrm>
            <a:off x="8247888" y="391363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治理重写　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追问 3230 · L2 2682 · L3 2915 · 降级策略 5012 条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73568" y="470001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8" name="Text 46"/>
          <p:cNvSpPr/>
          <p:nvPr/>
        </p:nvSpPr>
        <p:spPr>
          <a:xfrm>
            <a:off x="8247888" y="455371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　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算法 / 接口 / 页面 / 异常降级五层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973568" y="534009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0" name="Text 48"/>
          <p:cNvSpPr/>
          <p:nvPr/>
        </p:nvSpPr>
        <p:spPr>
          <a:xfrm>
            <a:off x="8247888" y="5193792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典型问题　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图谱不一致 444 / 939 题；检索超时 5 秒误判改 60 秒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协作机制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1.3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29844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152144"/>
            <a:ext cx="10561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接口契约先行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接口文档是唯一权威；前端不直接访问 AI 服务，请求经主后端统一转发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31136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84832"/>
            <a:ext cx="10561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服务对外只暴露结构化字段与评分结果，密钥与内部提示词不出服务边界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63824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17520"/>
            <a:ext cx="10561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例会与沟通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线下会议与腾讯会议为正式讨论场合，即时通讯随时对接；关键节点组织全体会议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96512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50208"/>
            <a:ext cx="10561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版本管理与交付　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版本管理；GitHub 与 Gitee 双远程；密钥与运行数据不入库；一键启动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端口分配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303520"/>
          <a:ext cx="10835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160020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8001 主后端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8002 评估服务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8003 知识库检索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8005 对话与评估层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5173 前端开发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5273 演示前端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后端开发 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评估与报告生成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知识库构建与测试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对话层与面试官人格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前端全栈开发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后端开发 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实施路线与阶段划分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02412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四个阶段推进，后两阶段并行：集成增强期间测试与文档同步起步，直到交付前收口。</a:t>
            </a:r>
            <a:endParaRPr lang="en-US" sz="1200" dirty="0"/>
          </a:p>
        </p:txBody>
      </p:sp>
      <p:pic>
        <p:nvPicPr>
          <p:cNvPr id="9" name="Image 0" descr="D:\外包竞赛\project\ai-interview-system\docs\submission\figures\fig-2-1-项目实施甘特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417320"/>
            <a:ext cx="8540496" cy="49364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阶段一：需求分析与方案设计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078992"/>
            <a:ext cx="6035040" cy="5074920"/>
          </a:xfrm>
          <a:prstGeom prst="roundRect">
            <a:avLst>
              <a:gd name="adj" fmla="val 108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9" name="Image 0" descr="D:\外包竞赛\project\ai-interview-system\docs\submission\figures\fig-1-2-求职失败主要原因.png">    </p:cNvPr>
          <p:cNvPicPr>
            <a:picLocks noChangeAspect="1"/>
          </p:cNvPicPr>
          <p:nvPr/>
        </p:nvPicPr>
        <p:blipFill>
          <a:blip r:embed="rId1"/>
          <a:srcRect l="-25000" r="-25000" t="0" b="0"/>
          <a:stretch/>
        </p:blipFill>
        <p:spPr>
          <a:xfrm>
            <a:off x="868680" y="1554480"/>
            <a:ext cx="5760720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5577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需求分析依据：求职失败主因调查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95160" y="1078992"/>
            <a:ext cx="4480560" cy="841248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59752" y="113385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　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明确系统边界与技术路线，形成可执行的分工与开发计划。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95160" y="221284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206654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需求梳理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分析痛点，确定产品形态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95160" y="303580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288950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异步 + Vue 3；SQLite 零配置启动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95160" y="385876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371246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评估体系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五维模型与各岗位权重表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95160" y="468172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7"/>
          <p:cNvSpPr/>
          <p:nvPr/>
        </p:nvSpPr>
        <p:spPr>
          <a:xfrm>
            <a:off x="7269480" y="453542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协作约定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目录归属、端口分配、接口先行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95160" y="5440680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9752" y="548640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交付物：需求文档 · 功能清单 · 评估维度定义 · 接口初稿 · 协作指南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阶段二：核心功能开发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08356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521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　</a:t>
            </a:r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跑通「创建面试 → 出题 → 作答 → 动态追问 → 结束 → 生成报告」完整闭环。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1810512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810512"/>
            <a:ext cx="26060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后端基座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数据模型、鉴权体系、面试状态机、统一响应与错误码；一键启动脚本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93008" y="1810512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1810512"/>
            <a:ext cx="26060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评估能力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五维评分与报告文本生成上线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54496" y="1810512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810512"/>
            <a:ext cx="26060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题库与算法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题库入库；面试官算法原生接入数据源链，形成五级结构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15984" y="1810512"/>
            <a:ext cx="260604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5984" y="1810512"/>
            <a:ext cx="26060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19933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演示前端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0576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正式前端完成前先行交付，作为演示与联调入口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3611880"/>
            <a:ext cx="10835640" cy="2395728"/>
          </a:xfrm>
          <a:prstGeom prst="roundRect">
            <a:avLst>
              <a:gd name="adj" fmla="val 2290"/>
            </a:avLst>
          </a:prstGeom>
          <a:solidFill>
            <a:srgbClr val="1E1E1E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611880"/>
            <a:ext cx="128016" cy="2395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128" y="3749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换代　一次迭代，三层重做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24128" y="4370832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207008" y="42611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07008" y="460857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从数百题扩充至 5012 题，补齐得分点与三级追问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44568" y="4370832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27448" y="42611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27448" y="460857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面试官算法按新结构重写，追问触达率 66% → 100%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65008" y="4370832"/>
            <a:ext cx="82296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47888" y="42611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检索与评估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47888" y="4608576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服务接入数据源链；评估按题注入校准锚点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" y="6144768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交付物：主后端服务 · 评估能力 · 面试官算法 · V5 题库与检索服务 · 演示前端 · 接口与对接文档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阶段三：系统集成与能力增强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08356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521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　</a:t>
            </a:r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在闭环之上扩展功能面与 AI 能力，形成练习、评估、提升的完整闭环。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874520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039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资料编辑、头像上传、按岗位筛选的历史与成长曲线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187452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1874520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039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报告分享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限时免登录分享链接，重复生成复用未过期链接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83296" y="187452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874520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2039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2423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学习计划推荐上线，按评估结果给出提升路径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447288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447288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简历导入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上传解析后可回填至面试上下文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07408" y="3447288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3447288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对话层迭代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三个版本：语音转写、成长档案、考后复盘、朗读与体态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83296" y="3447288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3447288"/>
            <a:ext cx="91440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语音读数回传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语速、停顿等读数随作答回传，参与报告生成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5120640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前端集中开发：后端按需求文档分批交付接口，前端完成后交付 25 条接口对照表，双方逐条核对修正。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6108192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交付物：个人中心与分享接口 · 简历与学习资源接口 · 对话层服务集成 · 语音能力 · 前端全部页面与联调记录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阶段四：测试优化与成果交付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08356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521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　</a:t>
            </a:r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验证质量、优化性能，完成全套成果材料的整理与提交。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7510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0976" y="254203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852928"/>
            <a:ext cx="2167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覆盖全部核心模块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184708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97510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2824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12464" y="254203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项冒烟测试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2852928"/>
            <a:ext cx="2167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全部通过、失败 0 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184708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97510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73952" y="254203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场流程仿真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2852928"/>
            <a:ext cx="2167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岗位 × 400 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5984" y="1847088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97510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秒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235440" y="254203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全量测试耗时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2852928"/>
            <a:ext cx="2167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测试库与开发库隔离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675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验证与优化动作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4178808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032504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效果回归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每次算法与数据迭代后重跑仿真，以「兜底 0 次、收尾题 100%」为基线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800600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65429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并发优化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写前日志模式与忙等超时配置，多场面试并发提交不锁库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5422392"/>
            <a:ext cx="91440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27608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前端部署　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构建产物拷入主服务静态目录，同端口挂载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3675888"/>
            <a:ext cx="3749040" cy="2212848"/>
          </a:xfrm>
          <a:prstGeom prst="roundRect">
            <a:avLst>
              <a:gd name="adj" fmla="val 2479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3794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文档与材料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1000" y="4270248"/>
            <a:ext cx="82296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169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开发手册与新增代码清单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4599432"/>
            <a:ext cx="82296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498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竞赛三册材料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01000" y="4928616"/>
            <a:ext cx="82296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4828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详细方案章节稿与配图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5257800"/>
            <a:ext cx="82296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5157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前端联调指南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01000" y="5586984"/>
            <a:ext cx="82296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5486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风险与应对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8356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086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外部服务（大模型、知识库）不可用或超时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五级数据源降级链逐级兜底；内置兜底不依赖任何外部服务；超时预算按实测耗时分档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题库换代导致算法与评估失效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换代后重跑全岗位流程仿真；受控词表集中定义，非法值直接报错而非静默返回空集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大模型调用成本随使用量增长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优化提示词长度；高频场景建立缓存；精度允许时以小模型处理简单场景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语音识别在真人场景下准确率不确定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提供转写文本手动校对；持续优化语音活动检测参数与热词表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数据隐私与合规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录音即用即删，不进数据库、不进日志；用户可随时删除自己的面试记录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运行环境差异导致服务起不来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启动脚本纯 ASCII 引导规避终端编码差异；向量库目录固定纯 ASCII 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阶段任务与人员分工表（一）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00200"/>
                <a:gridCol w="3703320"/>
                <a:gridCol w="1417320"/>
                <a:gridCol w="1600200"/>
                <a:gridCol w="987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任务描述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负责岗位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一、需求分析与方案设计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需求梳理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分析求职痛点，确定产品形态与功能范围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月中旬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产品需求文档、功能清单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技术选型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确定框架、数据库、服务拆分与部署方式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月中旬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小丁主导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评估体系设计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五维评分模型与各岗位权重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月中旬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小黄，全队审定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评估维度定义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分工与协作约定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目录归属、端口分配、接口契约规范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月下旬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协作指南、接口初稿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二、核心功能开发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后端基座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数据模型、鉴权、状态机、异常体系、一键启动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月下旬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主后端服务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评估能力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五维评分与报告文本生成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月上旬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评估服务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题库与面试官算法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题库入库与算法原生接入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月上旬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小李、小陈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题库、算法模块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演示前端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正式前端交付前的演示与联调入口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月上旬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演示前端（5273）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V5 换代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题库扩至 5012 题，算法、检索、评估同步重做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 14 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V5 题库、检索服务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72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注：8 月日期依据提交记录与文档时间推断；阶段一 · 阶段二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阶段任务与人员分工表（二）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项目实施过程 · 2.7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600200"/>
                <a:gridCol w="3703320"/>
                <a:gridCol w="1417320"/>
                <a:gridCol w="1600200"/>
                <a:gridCol w="987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关键任务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任务描述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负责岗位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三、系统集成与能力增强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个人中心与报告分享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资料编辑、头像、按岗位筛选、限时分享链接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月中旬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相关接口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学习资源与简历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学习计划推荐、简历上传解析与回填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月下旬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相关接口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对话层服务迭代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三版迭代、语音转写、成长档案、考后复盘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月下旬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小陈、小丁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对话层服务集成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前端集中开发与联调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个页面实现，接口对照逐条核对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月下旬至 10 月上旬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构建产物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四、测试优化与成果交付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测试与仿真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 项自动化用例、全岗位流程仿真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月上旬起持续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测试套件、仿真数据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性能与并发优化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并发写入配置、超时预算分档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月下旬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优化配置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文档与材料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开发手册、代码清单、三册材料、章节稿、本文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月中旬至 10 月上旬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全队（小黄统筹）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57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全套提交材料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72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注：8 月日期依据提交记录与文档时间推断；阶段三 · 阶段四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8686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" y="14630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团队协作纪实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协作痕迹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 · Alpha 小队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40135" y="643737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024128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线下集中开发与线上会议并行推进，跨成员的接口与数据对接全部以文档留痕。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481328"/>
            <a:ext cx="6035040" cy="4709160"/>
          </a:xfrm>
          <a:prstGeom prst="roundRect">
            <a:avLst>
              <a:gd name="adj" fmla="val 971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0" name="Image 0" descr="D:\外包竞赛\project\ai-interview-system\docs\submission\figures\team\team-会议现场.png">    </p:cNvPr>
          <p:cNvPicPr>
            <a:picLocks noChangeAspect="1"/>
          </p:cNvPicPr>
          <p:nvPr/>
        </p:nvPicPr>
        <p:blipFill>
          <a:blip r:embed="rId1"/>
          <a:srcRect l="-18831" r="-18831" t="0" b="0"/>
          <a:stretch/>
        </p:blipFill>
        <p:spPr>
          <a:xfrm>
            <a:off x="841248" y="1572768"/>
            <a:ext cx="5815584" cy="42245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5852160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线下集中开发（会议室现场）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95160" y="1481328"/>
            <a:ext cx="4434840" cy="2286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3" name="Image 1" descr="D:\外包竞赛\project\ai-interview-system\docs\submission\figures\team\team-腾讯会议.png">    </p:cNvPr>
          <p:cNvPicPr>
            <a:picLocks noChangeAspect="1"/>
          </p:cNvPicPr>
          <p:nvPr/>
        </p:nvPicPr>
        <p:blipFill>
          <a:blip r:embed="rId2"/>
          <a:srcRect l="-62439" r="-62439" t="0" b="0"/>
          <a:stretch/>
        </p:blipFill>
        <p:spPr>
          <a:xfrm>
            <a:off x="7104888" y="1572768"/>
            <a:ext cx="4215384" cy="1874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4888" y="3474720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线上会议对接（腾讯会议）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995160" y="3904488"/>
            <a:ext cx="4434840" cy="22860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6" name="Image 2" descr="D:\外包竞赛\project\ai-interview-system\docs\submission\figures\team\team-对接文档核对.png">    </p:cNvPr>
          <p:cNvPicPr>
            <a:picLocks noChangeAspect="1"/>
          </p:cNvPicPr>
          <p:nvPr/>
        </p:nvPicPr>
        <p:blipFill>
          <a:blip r:embed="rId3"/>
          <a:srcRect l="-62439" r="-62439" t="0" b="0"/>
          <a:stretch/>
        </p:blipFill>
        <p:spPr>
          <a:xfrm>
            <a:off x="7104888" y="3995928"/>
            <a:ext cx="4215384" cy="1874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04888" y="5897880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跨成员对接文档（接口核对）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777240" cy="82296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1965960"/>
            <a:ext cx="457200" cy="82296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五个岗位，一条链路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3101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从题库生产到多模态面试，从五维评分到成长追踪，每一段都有明确的所有者与可核查的产出。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深镜智聘｜Alpha 小队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深镜智聘 · 项目的详细分工及过程</dc:title>
  <dc:subject>PptxGenJS Presentation</dc:subject>
  <dc:creator>Alpha 小队</dc:creator>
  <cp:lastModifiedBy>Alpha 小队</cp:lastModifiedBy>
  <cp:revision>1</cp:revision>
  <dcterms:created xsi:type="dcterms:W3CDTF">2026-10-09T13:20:10Z</dcterms:created>
  <dcterms:modified xsi:type="dcterms:W3CDTF">2026-10-09T13:20:10Z</dcterms:modified>
</cp:coreProperties>
</file>